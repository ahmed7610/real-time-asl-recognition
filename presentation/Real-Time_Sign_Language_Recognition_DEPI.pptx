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57200"/>
            <a:ext cx="1326214" cy="1234440"/>
          </a:xfrm>
          <a:prstGeom prst="rect">
            <a:avLst/>
          </a:prstGeom>
        </p:spPr>
      </p:pic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566928"/>
            <a:ext cx="1749699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423160"/>
            <a:ext cx="1051560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047954"/>
                </a:solidFill>
                <a:latin typeface="Cambria"/>
              </a:rPr>
              <a:t>Real-Time Sign Language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>
                <a:solidFill>
                  <a:srgbClr val="336EA8"/>
                </a:solidFill>
                <a:latin typeface="Cambria"/>
              </a:rPr>
              <a:t>Recognition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  <a:spcAft>
                <a:spcPts val="600"/>
              </a:spcAft>
            </a:pPr>
            <a:r>
              <a:rPr sz="1600" b="0">
                <a:solidFill>
                  <a:srgbClr val="5A6B62"/>
                </a:solidFill>
                <a:latin typeface="Calibri"/>
              </a:rPr>
              <a:t>ASL fingerspelling from a webcam  ·  MediaPipe landmarks  ·  static-pose MLP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92040"/>
            <a:ext cx="10515600" cy="960120"/>
          </a:xfrm>
          <a:prstGeom prst="roundRect">
            <a:avLst>
              <a:gd name="adj" fmla="val 9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7844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B2A24"/>
                </a:solidFill>
                <a:latin typeface="Calibri"/>
              </a:rPr>
              <a:t>Ahmed Abd El-Ghafar Slama  ·  Ahmed Hassan Mohamed  ·  Yara Ahmed Mohamed Abdelall  ·  Salwa Wael Mohammed Elkordy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047954"/>
                </a:solidFill>
                <a:latin typeface="Calibri"/>
              </a:rPr>
              <a:t>DEPI · Microsoft Machine Learning Program — Graduation Project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200" b="1">
                <a:solidFill>
                  <a:srgbClr val="047954"/>
                </a:solidFill>
                <a:latin typeface="Cambria"/>
              </a:rPr>
              <a:t>Project Idea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600"/>
              </a:spcAft>
            </a:pPr>
            <a:r>
              <a:rPr sz="1450" b="0">
                <a:solidFill>
                  <a:srgbClr val="5A6B62"/>
                </a:solidFill>
                <a:latin typeface="Calibri"/>
              </a:rPr>
              <a:t>The problem, our solution, and what makes it stand 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3611880" cy="4206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2011680"/>
            <a:ext cx="658368" cy="658368"/>
          </a:xfrm>
          <a:prstGeom prst="ellipse">
            <a:avLst/>
          </a:prstGeom>
          <a:solidFill>
            <a:srgbClr val="0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2971800" cy="2834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047954"/>
                </a:solidFill>
                <a:latin typeface="Cambria"/>
              </a:rPr>
              <a:t>The Problem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B2A24"/>
                </a:solidFill>
                <a:latin typeface="Calibri"/>
              </a:rPr>
              <a:t>Deaf &amp; hard-of-hearing people face a daily communication barrier. Human interpreters are scarce, costly, and can't be booked for every moment — a pharmacy, a bank, a clinic reception.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1691640"/>
            <a:ext cx="3611880" cy="4206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36592" y="2011680"/>
            <a:ext cx="658368" cy="658368"/>
          </a:xfrm>
          <a:prstGeom prst="ellipse">
            <a:avLst/>
          </a:prstGeom>
          <a:solidFill>
            <a:srgbClr val="33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6592" y="2880360"/>
            <a:ext cx="2971800" cy="2834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336EA8"/>
                </a:solidFill>
                <a:latin typeface="Cambria"/>
              </a:rPr>
              <a:t>The Solution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B2A24"/>
                </a:solidFill>
                <a:latin typeface="Calibri"/>
              </a:rPr>
              <a:t>A camera-only, real-time system that reads ASL fingerspelling from hand movement and turns it into on-screen text. No gloves, no sensors — just a webcam and a browser.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84464" y="1691640"/>
            <a:ext cx="3611880" cy="4206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04504" y="2011680"/>
            <a:ext cx="658368" cy="658368"/>
          </a:xfrm>
          <a:prstGeom prst="ellipse">
            <a:avLst/>
          </a:prstGeom>
          <a:solidFill>
            <a:srgbClr val="D7B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04504" y="2880360"/>
            <a:ext cx="2971800" cy="2834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D7B119"/>
                </a:solidFill>
                <a:latin typeface="Cambria"/>
              </a:rPr>
              <a:t>Unique Value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B2A24"/>
                </a:solidFill>
                <a:latin typeface="Calibri"/>
              </a:rPr>
              <a:t>Works on hand LANDMARKS, not pixels: tiny, fast on CPU, robust to lighting &amp; skin tone. A confidence gate + temporal smoothing keep predictions stable and flicker-free.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B6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200" b="1">
                <a:solidFill>
                  <a:srgbClr val="047954"/>
                </a:solidFill>
                <a:latin typeface="Cambria"/>
              </a:rPr>
              <a:t>How It Works — Architecture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600"/>
              </a:spcAft>
            </a:pPr>
            <a:r>
              <a:rPr sz="1450" b="0">
                <a:solidFill>
                  <a:srgbClr val="5A6B62"/>
                </a:solidFill>
                <a:latin typeface="Calibri"/>
              </a:rPr>
              <a:t>One landmark front-end, one static-pose classifier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1828800" cy="1097280"/>
          </a:xfrm>
          <a:prstGeom prst="roundRect">
            <a:avLst>
              <a:gd name="adj" fmla="val 9000"/>
            </a:avLst>
          </a:prstGeom>
          <a:solidFill>
            <a:srgbClr val="33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82880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Webcam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frame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86584" y="2157984"/>
            <a:ext cx="329184" cy="347472"/>
          </a:xfrm>
          <a:prstGeom prst="rightArrow">
            <a:avLst/>
          </a:prstGeom>
          <a:solidFill>
            <a:srgbClr val="33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88920" y="1783080"/>
            <a:ext cx="1828800" cy="1097280"/>
          </a:xfrm>
          <a:prstGeom prst="roundRect">
            <a:avLst>
              <a:gd name="adj" fmla="val 9000"/>
            </a:avLst>
          </a:prstGeom>
          <a:solidFill>
            <a:srgbClr val="0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1783080"/>
            <a:ext cx="182880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MediaPipe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21 landmarks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672583" y="2157984"/>
            <a:ext cx="329184" cy="347472"/>
          </a:xfrm>
          <a:prstGeom prst="rightArrow">
            <a:avLst/>
          </a:prstGeom>
          <a:solidFill>
            <a:srgbClr val="0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74920" y="1783080"/>
            <a:ext cx="1828800" cy="1097280"/>
          </a:xfrm>
          <a:prstGeom prst="roundRect">
            <a:avLst>
              <a:gd name="adj" fmla="val 9000"/>
            </a:avLst>
          </a:prstGeom>
          <a:solidFill>
            <a:srgbClr val="0FA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783080"/>
            <a:ext cx="182880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Normalize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63-D vector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958583" y="2157984"/>
            <a:ext cx="329184" cy="347472"/>
          </a:xfrm>
          <a:prstGeom prst="rightArrow">
            <a:avLst/>
          </a:prstGeom>
          <a:solidFill>
            <a:srgbClr val="33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60920" y="1783080"/>
            <a:ext cx="1828800" cy="1097280"/>
          </a:xfrm>
          <a:prstGeom prst="roundRect">
            <a:avLst>
              <a:gd name="adj" fmla="val 9000"/>
            </a:avLst>
          </a:prstGeom>
          <a:solidFill>
            <a:srgbClr val="D7B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1783080"/>
            <a:ext cx="182880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B2A24"/>
                </a:solidFill>
                <a:latin typeface="Calibri"/>
              </a:rPr>
              <a:t>Static MLP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B2A24"/>
                </a:solidFill>
                <a:latin typeface="Calibri"/>
              </a:rPr>
              <a:t>24 classes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244584" y="2157984"/>
            <a:ext cx="329184" cy="347472"/>
          </a:xfrm>
          <a:prstGeom prst="rightArrow">
            <a:avLst/>
          </a:prstGeom>
          <a:solidFill>
            <a:srgbClr val="0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46920" y="1783080"/>
            <a:ext cx="1828800" cy="1097280"/>
          </a:xfrm>
          <a:prstGeom prst="roundRect">
            <a:avLst>
              <a:gd name="adj" fmla="val 9000"/>
            </a:avLst>
          </a:prstGeom>
          <a:solidFill>
            <a:srgbClr val="0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20" y="1783080"/>
            <a:ext cx="182880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Letter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3429000"/>
            <a:ext cx="4800600" cy="1874519"/>
          </a:xfrm>
          <a:prstGeom prst="roundRect">
            <a:avLst>
              <a:gd name="adj" fmla="val 9000"/>
            </a:avLst>
          </a:prstGeom>
          <a:solidFill>
            <a:srgbClr val="E7F4EE"/>
          </a:solidFill>
          <a:ln w="12700">
            <a:solidFill>
              <a:srgbClr val="047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44168" y="3648456"/>
            <a:ext cx="4206240" cy="1508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47954"/>
                </a:solidFill>
                <a:latin typeface="Cambria"/>
              </a:rPr>
              <a:t>The model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B2A24"/>
                </a:solidFill>
                <a:latin typeface="Calibri"/>
              </a:rPr>
              <a:t>63-D landmark vector → StandardScaler → Dense 256→128→64 (BatchNorm + ReLU + Dropout) → Softmax over the 24 static letters A–I, K–Y.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429000"/>
            <a:ext cx="4800600" cy="1874519"/>
          </a:xfrm>
          <a:prstGeom prst="roundRect">
            <a:avLst>
              <a:gd name="adj" fmla="val 9000"/>
            </a:avLst>
          </a:prstGeom>
          <a:solidFill>
            <a:srgbClr val="E9F0F7"/>
          </a:solidFill>
          <a:ln w="12700">
            <a:solidFill>
              <a:srgbClr val="33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3648456"/>
            <a:ext cx="4206240" cy="1508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336EA8"/>
                </a:solidFill>
                <a:latin typeface="Cambria"/>
              </a:rPr>
              <a:t>Stability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B2A24"/>
                </a:solidFill>
                <a:latin typeface="Calibri"/>
              </a:rPr>
              <a:t>A confidence gate ignores uncertain frames; a majority vote over the last 10 predictions removes flicker; the word builder commits held letters.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5760720"/>
            <a:ext cx="10104120" cy="749808"/>
          </a:xfrm>
          <a:prstGeom prst="roundRect">
            <a:avLst>
              <a:gd name="adj" fmla="val 9000"/>
            </a:avLst>
          </a:prstGeom>
          <a:solidFill>
            <a:srgbClr val="1B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760720"/>
            <a:ext cx="9829800" cy="7498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landmarks   →   normalize   →   static MLP   →   confidence gate + smoothing   →   Word Builder   →   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B6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200" b="1">
                <a:solidFill>
                  <a:srgbClr val="047954"/>
                </a:solidFill>
                <a:latin typeface="Cambria"/>
              </a:rPr>
              <a:t>Wireframe &amp; User Journey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600"/>
              </a:spcAft>
            </a:pPr>
            <a:r>
              <a:rPr sz="1450" b="0">
                <a:solidFill>
                  <a:srgbClr val="5A6B62"/>
                </a:solidFill>
                <a:latin typeface="Calibri"/>
              </a:rPr>
              <a:t>A single-screen web client — usability first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37360"/>
            <a:ext cx="5852160" cy="4206240"/>
          </a:xfrm>
          <a:prstGeom prst="roundRect">
            <a:avLst>
              <a:gd name="adj" fmla="val 9000"/>
            </a:avLst>
          </a:prstGeom>
          <a:solidFill>
            <a:srgbClr val="F2F5F3"/>
          </a:solidFill>
          <a:ln w="12700"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3566160" cy="2743200"/>
          </a:xfrm>
          <a:prstGeom prst="roundRect">
            <a:avLst>
              <a:gd name="adj" fmla="val 9000"/>
            </a:avLst>
          </a:prstGeom>
          <a:solidFill>
            <a:srgbClr val="222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154680"/>
            <a:ext cx="356616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8D6CF"/>
                </a:solidFill>
                <a:latin typeface="Calibri"/>
              </a:rPr>
              <a:t>webcam + landmark overlay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864608"/>
            <a:ext cx="1051560" cy="914400"/>
          </a:xfrm>
          <a:prstGeom prst="roundRect">
            <a:avLst>
              <a:gd name="adj" fmla="val 9000"/>
            </a:avLst>
          </a:prstGeom>
          <a:solidFill>
            <a:srgbClr val="0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64608"/>
            <a:ext cx="10515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5029200"/>
            <a:ext cx="2331720" cy="256032"/>
          </a:xfrm>
          <a:prstGeom prst="roundRect">
            <a:avLst>
              <a:gd name="adj" fmla="val 9000"/>
            </a:avLst>
          </a:prstGeom>
          <a:solidFill>
            <a:srgbClr val="0FA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57400" y="5440680"/>
            <a:ext cx="1554480" cy="256032"/>
          </a:xfrm>
          <a:prstGeom prst="roundRect">
            <a:avLst>
              <a:gd name="adj" fmla="val 9000"/>
            </a:avLst>
          </a:prstGeom>
          <a:solidFill>
            <a:srgbClr val="D7B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2011680"/>
            <a:ext cx="1691640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148840"/>
            <a:ext cx="150876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B62"/>
                </a:solidFill>
                <a:latin typeface="Calibri"/>
              </a:rPr>
              <a:t>TEXT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B2A24"/>
                </a:solidFill>
                <a:latin typeface="Calibri"/>
              </a:rPr>
              <a:t>CAB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657600"/>
            <a:ext cx="1691640" cy="457200"/>
          </a:xfrm>
          <a:prstGeom prst="roundRect">
            <a:avLst>
              <a:gd name="adj" fmla="val 9000"/>
            </a:avLst>
          </a:prstGeom>
          <a:solidFill>
            <a:srgbClr val="0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657600"/>
            <a:ext cx="169164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Start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224528"/>
            <a:ext cx="1691640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4224528"/>
            <a:ext cx="169164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B2A24"/>
                </a:solidFill>
                <a:latin typeface="Calibri"/>
              </a:rPr>
              <a:t>Space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4791456"/>
            <a:ext cx="1691640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791456"/>
            <a:ext cx="169164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B2A24"/>
                </a:solidFill>
                <a:latin typeface="Calibri"/>
              </a:rPr>
              <a:t>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5358383"/>
            <a:ext cx="1691640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5358383"/>
            <a:ext cx="169164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B2A24"/>
                </a:solidFill>
                <a:latin typeface="Calibri"/>
              </a:rPr>
              <a:t>Clear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691640"/>
            <a:ext cx="47548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336EA8"/>
                </a:solidFill>
                <a:latin typeface="Cambria"/>
              </a:rPr>
              <a:t>User journey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0" y="2331720"/>
            <a:ext cx="457200" cy="457200"/>
          </a:xfrm>
          <a:prstGeom prst="ellipse">
            <a:avLst/>
          </a:prstGeom>
          <a:solidFill>
            <a:srgbClr val="0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313432"/>
            <a:ext cx="42062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B2A24"/>
                </a:solidFill>
                <a:latin typeface="Calibri"/>
              </a:rPr>
              <a:t>Open the app &amp; allow camera access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0" y="3118103"/>
            <a:ext cx="457200" cy="457200"/>
          </a:xfrm>
          <a:prstGeom prst="ellipse">
            <a:avLst/>
          </a:prstGeom>
          <a:solidFill>
            <a:srgbClr val="0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3099815"/>
            <a:ext cx="42062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B2A24"/>
                </a:solidFill>
                <a:latin typeface="Calibri"/>
              </a:rPr>
              <a:t>Sign a letter — the skeleton overlay tracks your hand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0" y="3904487"/>
            <a:ext cx="457200" cy="457200"/>
          </a:xfrm>
          <a:prstGeom prst="ellipse">
            <a:avLst/>
          </a:prstGeom>
          <a:solidFill>
            <a:srgbClr val="0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886200"/>
            <a:ext cx="42062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B2A24"/>
                </a:solidFill>
                <a:latin typeface="Calibri"/>
              </a:rPr>
              <a:t>Hold ~1s → the letter commits to the word</a:t>
            </a:r>
          </a:p>
        </p:txBody>
      </p:sp>
      <p:sp>
        <p:nvSpPr>
          <p:cNvPr id="28" name="Oval 27"/>
          <p:cNvSpPr/>
          <p:nvPr/>
        </p:nvSpPr>
        <p:spPr>
          <a:xfrm>
            <a:off x="6858000" y="4690872"/>
            <a:ext cx="457200" cy="457200"/>
          </a:xfrm>
          <a:prstGeom prst="ellipse">
            <a:avLst/>
          </a:prstGeom>
          <a:solidFill>
            <a:srgbClr val="0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4672584"/>
            <a:ext cx="42062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B2A24"/>
                </a:solidFill>
                <a:latin typeface="Calibri"/>
              </a:rPr>
              <a:t>Release your hand before repeating the same letter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0" y="5477256"/>
            <a:ext cx="457200" cy="457200"/>
          </a:xfrm>
          <a:prstGeom prst="ellipse">
            <a:avLst/>
          </a:prstGeom>
          <a:solidFill>
            <a:srgbClr val="0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5458968"/>
            <a:ext cx="42062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B2A24"/>
                </a:solidFill>
                <a:latin typeface="Calibri"/>
              </a:rPr>
              <a:t>Use Space / Backspace / Clear to edit 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B6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200" b="1">
                <a:solidFill>
                  <a:srgbClr val="047954"/>
                </a:solidFill>
                <a:latin typeface="Cambria"/>
              </a:rPr>
              <a:t>End Users &amp; Key Features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600"/>
              </a:spcAft>
            </a:pPr>
            <a:r>
              <a:rPr sz="1450" b="0">
                <a:solidFill>
                  <a:srgbClr val="5A6B62"/>
                </a:solidFill>
                <a:latin typeface="Calibri"/>
              </a:rPr>
              <a:t>Who it serves and 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91640"/>
            <a:ext cx="5212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47954"/>
                </a:solidFill>
                <a:latin typeface="Cambria"/>
              </a:rPr>
              <a:t>End users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286000"/>
            <a:ext cx="457200" cy="457200"/>
          </a:xfrm>
          <a:prstGeom prst="ellipse">
            <a:avLst/>
          </a:prstGeom>
          <a:solidFill>
            <a:srgbClr val="33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240280"/>
            <a:ext cx="457200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1B2A24"/>
                </a:solidFill>
                <a:latin typeface="Calibri"/>
              </a:rPr>
              <a:t>Deaf &amp; hard-of-hearing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62"/>
                </a:solidFill>
                <a:latin typeface="Calibri"/>
              </a:rPr>
              <a:t>Spell names, words &amp; addresses without an interpreter.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218688"/>
            <a:ext cx="457200" cy="457200"/>
          </a:xfrm>
          <a:prstGeom prst="ellipse">
            <a:avLst/>
          </a:prstGeom>
          <a:solidFill>
            <a:srgbClr val="33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172968"/>
            <a:ext cx="457200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1B2A24"/>
                </a:solidFill>
                <a:latin typeface="Calibri"/>
              </a:rPr>
              <a:t>Service counters &amp; retail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62"/>
                </a:solidFill>
                <a:latin typeface="Calibri"/>
              </a:rPr>
              <a:t>Pharmacies, banks, clinics, telecom &amp; government desks.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151376"/>
            <a:ext cx="457200" cy="457200"/>
          </a:xfrm>
          <a:prstGeom prst="ellipse">
            <a:avLst/>
          </a:prstGeom>
          <a:solidFill>
            <a:srgbClr val="33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105656"/>
            <a:ext cx="457200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1B2A24"/>
                </a:solidFill>
                <a:latin typeface="Calibri"/>
              </a:rPr>
              <a:t>Education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62"/>
                </a:solidFill>
                <a:latin typeface="Calibri"/>
              </a:rPr>
              <a:t>Interactive ASL-alphabet tutor with instant feedback.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5084064"/>
            <a:ext cx="457200" cy="457200"/>
          </a:xfrm>
          <a:prstGeom prst="ellipse">
            <a:avLst/>
          </a:prstGeom>
          <a:solidFill>
            <a:srgbClr val="33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5038344"/>
            <a:ext cx="457200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1B2A24"/>
                </a:solidFill>
                <a:latin typeface="Calibri"/>
              </a:rPr>
              <a:t>Developers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62"/>
                </a:solidFill>
                <a:latin typeface="Calibri"/>
              </a:rPr>
              <a:t>A drop-in REST/WebSocket API for kiosks and apps.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91640"/>
            <a:ext cx="5303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336EA8"/>
                </a:solidFill>
                <a:latin typeface="Cambria"/>
              </a:rPr>
              <a:t>Key 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240280"/>
            <a:ext cx="5349240" cy="566928"/>
          </a:xfrm>
          <a:prstGeom prst="roundRect">
            <a:avLst>
              <a:gd name="adj" fmla="val 9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240280"/>
            <a:ext cx="49377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B2A24"/>
                </a:solidFill>
                <a:latin typeface="Calibri"/>
              </a:rPr>
              <a:t>Real-time recognition on CPU (landmark-based)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898648"/>
            <a:ext cx="5349240" cy="566928"/>
          </a:xfrm>
          <a:prstGeom prst="roundRect">
            <a:avLst>
              <a:gd name="adj" fmla="val 9000"/>
            </a:avLst>
          </a:prstGeom>
          <a:solidFill>
            <a:srgbClr val="E9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898648"/>
            <a:ext cx="49377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B2A24"/>
                </a:solidFill>
                <a:latin typeface="Calibri"/>
              </a:rPr>
              <a:t>Recognizes the 24 static ASL letters (A–I, K–Y)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557015"/>
            <a:ext cx="5349240" cy="566928"/>
          </a:xfrm>
          <a:prstGeom prst="roundRect">
            <a:avLst>
              <a:gd name="adj" fmla="val 9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557015"/>
            <a:ext cx="49377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B2A24"/>
                </a:solidFill>
                <a:latin typeface="Calibri"/>
              </a:rPr>
              <a:t>Confidence gate + majority-vote smoothing (no flicker)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215383"/>
            <a:ext cx="5349240" cy="566928"/>
          </a:xfrm>
          <a:prstGeom prst="roundRect">
            <a:avLst>
              <a:gd name="adj" fmla="val 9000"/>
            </a:avLst>
          </a:prstGeom>
          <a:solidFill>
            <a:srgbClr val="E9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215383"/>
            <a:ext cx="49377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B2A24"/>
                </a:solidFill>
                <a:latin typeface="Calibri"/>
              </a:rPr>
              <a:t>Word builder with commit-on-stability logic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873751"/>
            <a:ext cx="5349240" cy="566928"/>
          </a:xfrm>
          <a:prstGeom prst="roundRect">
            <a:avLst>
              <a:gd name="adj" fmla="val 9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873751"/>
            <a:ext cx="49377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B2A24"/>
                </a:solidFill>
                <a:latin typeface="Calibri"/>
              </a:rPr>
              <a:t>Live hand-skeleton overlay &amp; confidence meters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5532119"/>
            <a:ext cx="5349240" cy="566928"/>
          </a:xfrm>
          <a:prstGeom prst="roundRect">
            <a:avLst>
              <a:gd name="adj" fmla="val 9000"/>
            </a:avLst>
          </a:prstGeom>
          <a:solidFill>
            <a:srgbClr val="E9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5532119"/>
            <a:ext cx="49377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B2A24"/>
                </a:solidFill>
                <a:latin typeface="Calibri"/>
              </a:rPr>
              <a:t>REST + WebSocket API, session-isolated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B6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200" b="1">
                <a:solidFill>
                  <a:srgbClr val="047954"/>
                </a:solidFill>
                <a:latin typeface="Cambria"/>
              </a:rPr>
              <a:t>Data Structure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600"/>
              </a:spcAft>
            </a:pPr>
            <a:r>
              <a:rPr sz="1450" b="0">
                <a:solidFill>
                  <a:srgbClr val="5A6B62"/>
                </a:solidFill>
                <a:latin typeface="Calibri"/>
              </a:rPr>
              <a:t>From raw images to a compact landmark 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37360"/>
            <a:ext cx="5257800" cy="4297680"/>
          </a:xfrm>
          <a:prstGeom prst="roundRect">
            <a:avLst>
              <a:gd name="adj" fmla="val 9000"/>
            </a:avLst>
          </a:prstGeom>
          <a:solidFill>
            <a:srgbClr val="F2F5F3"/>
          </a:solidFill>
          <a:ln w="12700">
            <a:solidFill>
              <a:srgbClr val="DD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47548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47954"/>
                </a:solidFill>
                <a:latin typeface="Cambria"/>
              </a:rPr>
              <a:t>Dataset — ASL Alphabet (Kaggle)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4754880" cy="3383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B2A24"/>
                </a:solidFill>
                <a:latin typeface="Calibri"/>
              </a:rPr>
              <a:t>▸   ~87,000 images · 200×200 px · originally 29 classes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B2A24"/>
                </a:solidFill>
                <a:latin typeface="Calibri"/>
              </a:rPr>
              <a:t>▸   Modelled: 24 static letters (A–I, K–Y)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B2A24"/>
                </a:solidFill>
                <a:latin typeface="Calibri"/>
              </a:rPr>
              <a:t>▸   Dropped: J, Z (motion) and space / delete / nothing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B2A24"/>
                </a:solidFill>
                <a:latin typeface="Calibri"/>
              </a:rPr>
              <a:t>▸   Roughly balanced — ~3,000 images per class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B2A24"/>
                </a:solidFill>
                <a:latin typeface="Calibri"/>
              </a:rPr>
              <a:t>▸   Format: image folders per class (not a CSV)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737360"/>
            <a:ext cx="5577840" cy="4297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36EA8"/>
                </a:solidFill>
                <a:latin typeface="Cambria"/>
              </a:rPr>
              <a:t>Feature engineering &amp; techniques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514600"/>
            <a:ext cx="5029200" cy="3383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1B2A24"/>
                </a:solidFill>
                <a:latin typeface="Calibri"/>
              </a:rPr>
              <a:t>▸   MediaPipe HandLandmarker → 21 × (x, y, z) = 63 features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1B2A24"/>
                </a:solidFill>
                <a:latin typeface="Calibri"/>
              </a:rPr>
              <a:t>▸   Normalize: wrist-relative + scale-invariant (pose only)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1B2A24"/>
                </a:solidFill>
                <a:latin typeface="Calibri"/>
              </a:rPr>
              <a:t>▸   StandardScaler on features; stratified 80 / 20 split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1B2A24"/>
                </a:solidFill>
                <a:latin typeface="Calibri"/>
              </a:rPr>
              <a:t>▸   MLP: Dense 256→128→64 → Softmax (24 classes)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1B2A24"/>
                </a:solidFill>
                <a:latin typeface="Calibri"/>
              </a:rPr>
              <a:t>▸   Confidence gate + majority-vote smoothing at inference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1B2A24"/>
                </a:solidFill>
                <a:latin typeface="Calibri"/>
              </a:rPr>
              <a:t>▸   Cached to .npy for fast, reproducible re-runs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6172200"/>
            <a:ext cx="11018520" cy="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B6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200" b="1">
                <a:solidFill>
                  <a:srgbClr val="047954"/>
                </a:solidFill>
                <a:latin typeface="Cambria"/>
              </a:rPr>
              <a:t>Languages, Frameworks &amp; Tools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600"/>
              </a:spcAft>
            </a:pPr>
            <a:r>
              <a:rPr sz="1450" b="0">
                <a:solidFill>
                  <a:srgbClr val="5A6B62"/>
                </a:solidFill>
                <a:latin typeface="Calibri"/>
              </a:rPr>
              <a:t>The full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2086660" cy="4114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90218" y="2011680"/>
            <a:ext cx="603504" cy="603504"/>
          </a:xfrm>
          <a:prstGeom prst="ellipse">
            <a:avLst/>
          </a:prstGeom>
          <a:solidFill>
            <a:srgbClr val="0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61488"/>
            <a:ext cx="1867204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47954"/>
                </a:solidFill>
                <a:latin typeface="Cambria"/>
              </a:rPr>
              <a:t>Languages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310128"/>
            <a:ext cx="1757476" cy="2468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B2A24"/>
                </a:solidFill>
                <a:latin typeface="Calibri"/>
              </a:rPr>
              <a:t>Python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B2A24"/>
                </a:solidFill>
                <a:latin typeface="Calibri"/>
              </a:rPr>
              <a:t>JavaScript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B2A24"/>
                </a:solidFill>
                <a:latin typeface="Calibri"/>
              </a:rPr>
              <a:t>HTML / 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99892" y="1783080"/>
            <a:ext cx="2086660" cy="4114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41471" y="2011680"/>
            <a:ext cx="603504" cy="603504"/>
          </a:xfrm>
          <a:prstGeom prst="ellipse">
            <a:avLst/>
          </a:prstGeom>
          <a:solidFill>
            <a:srgbClr val="0FA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9620" y="2761488"/>
            <a:ext cx="1867204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AB7D"/>
                </a:solidFill>
                <a:latin typeface="Cambria"/>
              </a:rPr>
              <a:t>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4484" y="3310128"/>
            <a:ext cx="1757476" cy="2468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B2A24"/>
                </a:solidFill>
                <a:latin typeface="Calibri"/>
              </a:rPr>
              <a:t>TensorFlow / Keras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B2A24"/>
                </a:solidFill>
                <a:latin typeface="Calibri"/>
              </a:rPr>
              <a:t>MediaPipe (Tasks)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B2A24"/>
                </a:solidFill>
                <a:latin typeface="Calibri"/>
              </a:rPr>
              <a:t>scikit-learn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B2A24"/>
                </a:solidFill>
                <a:latin typeface="Calibri"/>
              </a:rPr>
              <a:t>NumPy · OpenCV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51145" y="1783080"/>
            <a:ext cx="2086660" cy="4114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92724" y="2011680"/>
            <a:ext cx="603504" cy="603504"/>
          </a:xfrm>
          <a:prstGeom prst="ellipse">
            <a:avLst/>
          </a:prstGeom>
          <a:solidFill>
            <a:srgbClr val="33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0873" y="2761488"/>
            <a:ext cx="1867204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36EA8"/>
                </a:solidFill>
                <a:latin typeface="Cambria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5737" y="3310128"/>
            <a:ext cx="1757476" cy="2468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B2A24"/>
                </a:solidFill>
                <a:latin typeface="Calibri"/>
              </a:rPr>
              <a:t>FastAPI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B2A24"/>
                </a:solidFill>
                <a:latin typeface="Calibri"/>
              </a:rPr>
              <a:t>Uvicorn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B2A24"/>
                </a:solidFill>
                <a:latin typeface="Calibri"/>
              </a:rPr>
              <a:t>WebSockets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B2A24"/>
                </a:solidFill>
                <a:latin typeface="Calibri"/>
              </a:rPr>
              <a:t>Pydantic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02398" y="1783080"/>
            <a:ext cx="2086660" cy="4114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43976" y="2011680"/>
            <a:ext cx="603504" cy="603504"/>
          </a:xfrm>
          <a:prstGeom prst="ellipse">
            <a:avLst/>
          </a:prstGeom>
          <a:solidFill>
            <a:srgbClr val="D7B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12126" y="2761488"/>
            <a:ext cx="1867204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D7B119"/>
                </a:solidFill>
                <a:latin typeface="Cambria"/>
              </a:rPr>
              <a:t>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6990" y="3310128"/>
            <a:ext cx="1757476" cy="2468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B2A24"/>
                </a:solidFill>
                <a:latin typeface="Calibri"/>
              </a:rPr>
              <a:t>Vanilla JS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B2A24"/>
                </a:solidFill>
                <a:latin typeface="Calibri"/>
              </a:rPr>
              <a:t>Canvas overlay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B2A24"/>
                </a:solidFill>
                <a:latin typeface="Calibri"/>
              </a:rPr>
              <a:t>WebSocket client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3651" y="1783080"/>
            <a:ext cx="2086660" cy="4114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95229" y="2011680"/>
            <a:ext cx="603504" cy="603504"/>
          </a:xfrm>
          <a:prstGeom prst="ellipse">
            <a:avLst/>
          </a:prstGeom>
          <a:solidFill>
            <a:srgbClr val="0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3379" y="2761488"/>
            <a:ext cx="1867204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47954"/>
                </a:solidFill>
                <a:latin typeface="Cambria"/>
              </a:rPr>
              <a:t>Tools &amp; 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8243" y="3310128"/>
            <a:ext cx="1757476" cy="2468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B2A24"/>
                </a:solidFill>
                <a:latin typeface="Calibri"/>
              </a:rPr>
              <a:t>Google Colab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B2A24"/>
                </a:solidFill>
                <a:latin typeface="Calibri"/>
              </a:rPr>
              <a:t>Docker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B2A24"/>
                </a:solidFill>
                <a:latin typeface="Calibri"/>
              </a:rPr>
              <a:t>Git / GitHub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B2A24"/>
                </a:solidFill>
                <a:latin typeface="Calibri"/>
              </a:rPr>
              <a:t>joblib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B6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200" b="1">
                <a:solidFill>
                  <a:srgbClr val="047954"/>
                </a:solidFill>
                <a:latin typeface="Cambria"/>
              </a:rPr>
              <a:t>Live Application &amp; Testing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600"/>
              </a:spcAft>
            </a:pPr>
            <a:r>
              <a:rPr sz="1450" b="0">
                <a:solidFill>
                  <a:srgbClr val="5A6B62"/>
                </a:solidFill>
                <a:latin typeface="Calibri"/>
              </a:rPr>
              <a:t>Working end-to-end, and how we validated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37360"/>
            <a:ext cx="3520440" cy="4206240"/>
          </a:xfrm>
          <a:prstGeom prst="roundRect">
            <a:avLst>
              <a:gd name="adj" fmla="val 9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47954"/>
                </a:solidFill>
                <a:latin typeface="Cambria"/>
              </a:rPr>
              <a:t>Current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3108960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1B2A24"/>
                </a:solidFill>
                <a:latin typeface="Calibri"/>
              </a:rPr>
              <a:t>▸   Notebook → trained models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1B2A24"/>
                </a:solidFill>
                <a:latin typeface="Calibri"/>
              </a:rPr>
              <a:t>▸   FastAPI backend (REST + WS)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1B2A24"/>
                </a:solidFill>
                <a:latin typeface="Calibri"/>
              </a:rPr>
              <a:t>▸   Live web client (webcam)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1B2A24"/>
                </a:solidFill>
                <a:latin typeface="Calibri"/>
              </a:rPr>
              <a:t>▸   Runs in real time on CPU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1B2A24"/>
                </a:solidFill>
                <a:latin typeface="Calibri"/>
              </a:rPr>
              <a:t>▸   Dockerised &amp; deployable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737360"/>
            <a:ext cx="3794760" cy="4206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920240"/>
            <a:ext cx="3383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36EA8"/>
                </a:solidFill>
                <a:latin typeface="Cambria"/>
              </a:rPr>
              <a:t>Testing &amp; 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514600"/>
            <a:ext cx="3383280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B2A24"/>
                </a:solidFill>
                <a:latin typeface="Calibri"/>
              </a:rPr>
              <a:t>▸   Static model self-test on held-out data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B2A24"/>
                </a:solidFill>
                <a:latin typeface="Calibri"/>
              </a:rPr>
              <a:t>▸   Evaluation: accuracy, precision, recall, F1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B2A24"/>
                </a:solidFill>
                <a:latin typeface="Calibri"/>
              </a:rPr>
              <a:t>▸   Confusion matrix + training curves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B2A24"/>
                </a:solidFill>
                <a:latin typeface="Calibri"/>
              </a:rPr>
              <a:t>▸   Manual real-time webcam testing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B2A24"/>
                </a:solidFill>
                <a:latin typeface="Calibri"/>
              </a:rPr>
              <a:t>▸   API tested via Swagger /docs &amp; curl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737360"/>
            <a:ext cx="3429000" cy="4206240"/>
          </a:xfrm>
          <a:prstGeom prst="roundRect">
            <a:avLst>
              <a:gd name="adj" fmla="val 9000"/>
            </a:avLst>
          </a:prstGeom>
          <a:solidFill>
            <a:srgbClr val="1B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920240"/>
            <a:ext cx="3017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D7B119"/>
                </a:solidFill>
                <a:latin typeface="Cambria"/>
              </a:rPr>
              <a:t>What we learned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468880"/>
            <a:ext cx="301752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▸   Removed dynamic model → fixed wrong letters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▸   Confidence gate → no wrong flashes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▸   UI-driven space / backspace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251960"/>
            <a:ext cx="301752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FAB7D"/>
                </a:solidFill>
                <a:latin typeface="Cambria"/>
              </a:rPr>
              <a:t>24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8D6CF"/>
                </a:solidFill>
                <a:latin typeface="Calibri"/>
              </a:rPr>
              <a:t>static letter classes  (A–I, K–Y)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sz="1100" b="0">
                <a:solidFill>
                  <a:srgbClr val="9FB2AA"/>
                </a:solidFill>
                <a:latin typeface="Calibri"/>
              </a:rPr>
              <a:t>63-D landmark features per 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B6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200" b="1">
                <a:solidFill>
                  <a:srgbClr val="047954"/>
                </a:solidFill>
                <a:latin typeface="Cambria"/>
              </a:rPr>
              <a:t>Business Impact &amp; Practical Use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600"/>
              </a:spcAft>
            </a:pPr>
            <a:r>
              <a:rPr sz="1450" b="0">
                <a:solidFill>
                  <a:srgbClr val="5A6B62"/>
                </a:solidFill>
                <a:latin typeface="Calibri"/>
              </a:rPr>
              <a:t>Accessible communication, at software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37360"/>
            <a:ext cx="3474720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47088"/>
            <a:ext cx="3017520" cy="1371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047954"/>
                </a:solidFill>
                <a:latin typeface="Cambria"/>
              </a:rPr>
              <a:t>$50–150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62"/>
                </a:solidFill>
                <a:latin typeface="Calibri"/>
              </a:rPr>
              <a:t>per hour saved vs.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62"/>
                </a:solidFill>
                <a:latin typeface="Calibri"/>
              </a:rPr>
              <a:t>on-demand interpreting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737360"/>
            <a:ext cx="3474720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47088"/>
            <a:ext cx="3017520" cy="1371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336EA8"/>
                </a:solidFill>
                <a:latin typeface="Cambria"/>
              </a:rPr>
              <a:t>430M+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62"/>
                </a:solidFill>
                <a:latin typeface="Calibri"/>
              </a:rPr>
              <a:t>people with disabling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62"/>
                </a:solidFill>
                <a:latin typeface="Calibri"/>
              </a:rPr>
              <a:t>hearing loss (WHO)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737360"/>
            <a:ext cx="3474720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847088"/>
            <a:ext cx="3017520" cy="1371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D7B119"/>
                </a:solidFill>
                <a:latin typeface="Cambria"/>
              </a:rPr>
              <a:t>24 / 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62"/>
                </a:solidFill>
                <a:latin typeface="Calibri"/>
              </a:rPr>
              <a:t>instant, on-demand,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62"/>
                </a:solidFill>
                <a:latin typeface="Calibri"/>
              </a:rPr>
              <a:t>zero marginal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118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47954"/>
                </a:solidFill>
                <a:latin typeface="Cambria"/>
              </a:rPr>
              <a:t>Practical use cases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160520"/>
            <a:ext cx="2606040" cy="1828800"/>
          </a:xfrm>
          <a:prstGeom prst="roundRect">
            <a:avLst>
              <a:gd name="adj" fmla="val 9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4315968"/>
            <a:ext cx="224028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B2A24"/>
                </a:solidFill>
                <a:latin typeface="Calibri"/>
              </a:rPr>
              <a:t>Accessibility kiosks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Turn any service counter into an accessible 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4160520"/>
            <a:ext cx="2606040" cy="1828800"/>
          </a:xfrm>
          <a:prstGeom prst="roundRect">
            <a:avLst>
              <a:gd name="adj" fmla="val 9000"/>
            </a:avLst>
          </a:prstGeom>
          <a:solidFill>
            <a:srgbClr val="E9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7016" y="4315968"/>
            <a:ext cx="224028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B2A24"/>
                </a:solidFill>
                <a:latin typeface="Calibri"/>
              </a:rPr>
              <a:t>Education apps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Gamified ASL-alphabet learning with live feedback.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17336" y="4160520"/>
            <a:ext cx="2606040" cy="1828800"/>
          </a:xfrm>
          <a:prstGeom prst="roundRect">
            <a:avLst>
              <a:gd name="adj" fmla="val 9000"/>
            </a:avLst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4315968"/>
            <a:ext cx="224028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B2A24"/>
                </a:solidFill>
                <a:latin typeface="Calibri"/>
              </a:rPr>
              <a:t>Healthcare intake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Faster, safer when no interpreter is on hand.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78824" y="4160520"/>
            <a:ext cx="2606040" cy="1828800"/>
          </a:xfrm>
          <a:prstGeom prst="roundRect">
            <a:avLst>
              <a:gd name="adj" fmla="val 9000"/>
            </a:avLst>
          </a:prstGeom>
          <a:solidFill>
            <a:srgbClr val="E9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9992" y="4315968"/>
            <a:ext cx="224028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B2A24"/>
                </a:solidFill>
                <a:latin typeface="Calibri"/>
              </a:rPr>
              <a:t>Call captioning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Overlay fingerspelled letters during video calls.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B6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200" b="1">
                <a:solidFill>
                  <a:srgbClr val="047954"/>
                </a:solidFill>
                <a:latin typeface="Cambria"/>
              </a:rPr>
              <a:t>Deliverables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600"/>
              </a:spcAft>
            </a:pPr>
            <a:r>
              <a:rPr sz="1450" b="0">
                <a:solidFill>
                  <a:srgbClr val="5A6B62"/>
                </a:solidFill>
                <a:latin typeface="Calibri"/>
              </a:rPr>
              <a:t>Everything produced for this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539496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5528" y="2020824"/>
            <a:ext cx="502920" cy="502920"/>
          </a:xfrm>
          <a:prstGeom prst="ellipse">
            <a:avLst/>
          </a:prstGeom>
          <a:solidFill>
            <a:srgbClr val="0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901952"/>
            <a:ext cx="438912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B2A24"/>
                </a:solidFill>
                <a:latin typeface="Calibri"/>
              </a:rPr>
              <a:t>Trained model bundle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2 models + scaler + encoders + config.json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39496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19088" y="2020824"/>
            <a:ext cx="502920" cy="502920"/>
          </a:xfrm>
          <a:prstGeom prst="ellipse">
            <a:avLst/>
          </a:prstGeom>
          <a:solidFill>
            <a:srgbClr val="0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901952"/>
            <a:ext cx="438912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B2A24"/>
                </a:solidFill>
                <a:latin typeface="Calibri"/>
              </a:rPr>
              <a:t>Colab training notebook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End-to-end, reproducible, top-to-bottom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80360"/>
            <a:ext cx="539496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5528" y="3118104"/>
            <a:ext cx="502920" cy="502920"/>
          </a:xfrm>
          <a:prstGeom prst="ellipse">
            <a:avLst/>
          </a:prstGeom>
          <a:solidFill>
            <a:srgbClr val="0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999232"/>
            <a:ext cx="438912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B2A24"/>
                </a:solidFill>
                <a:latin typeface="Calibri"/>
              </a:rPr>
              <a:t>FastAPI backend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REST + WebSocket, session-isolated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880360"/>
            <a:ext cx="539496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19088" y="3118104"/>
            <a:ext cx="502920" cy="502920"/>
          </a:xfrm>
          <a:prstGeom prst="ellipse">
            <a:avLst/>
          </a:prstGeom>
          <a:solidFill>
            <a:srgbClr val="0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999232"/>
            <a:ext cx="438912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B2A24"/>
                </a:solidFill>
                <a:latin typeface="Calibri"/>
              </a:rPr>
              <a:t>Web frontend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Live webcam client with overlay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977639"/>
            <a:ext cx="539496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5528" y="4215383"/>
            <a:ext cx="502920" cy="502920"/>
          </a:xfrm>
          <a:prstGeom prst="ellipse">
            <a:avLst/>
          </a:prstGeom>
          <a:solidFill>
            <a:srgbClr val="0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096511"/>
            <a:ext cx="438912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B2A24"/>
                </a:solidFill>
                <a:latin typeface="Calibri"/>
              </a:rPr>
              <a:t>API documentation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Full endpoint reference + examples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77639"/>
            <a:ext cx="539496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215383"/>
            <a:ext cx="502920" cy="502920"/>
          </a:xfrm>
          <a:prstGeom prst="ellipse">
            <a:avLst/>
          </a:prstGeom>
          <a:solidFill>
            <a:srgbClr val="0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4096511"/>
            <a:ext cx="438912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B2A24"/>
                </a:solidFill>
                <a:latin typeface="Calibri"/>
              </a:rPr>
              <a:t>Business impact doc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Market, users, ROI, roadmap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074920"/>
            <a:ext cx="539496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5528" y="5312664"/>
            <a:ext cx="502920" cy="502920"/>
          </a:xfrm>
          <a:prstGeom prst="ellipse">
            <a:avLst/>
          </a:prstGeom>
          <a:solidFill>
            <a:srgbClr val="0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193792"/>
            <a:ext cx="438912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B2A24"/>
                </a:solidFill>
                <a:latin typeface="Calibri"/>
              </a:rPr>
              <a:t>GitHub repository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README, structure, run instructions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074920"/>
            <a:ext cx="539496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19088" y="5312664"/>
            <a:ext cx="502920" cy="502920"/>
          </a:xfrm>
          <a:prstGeom prst="ellipse">
            <a:avLst/>
          </a:prstGeom>
          <a:solidFill>
            <a:srgbClr val="0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5193792"/>
            <a:ext cx="438912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B2A24"/>
                </a:solidFill>
                <a:latin typeface="Calibri"/>
              </a:rPr>
              <a:t>This presentation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DEPI defense deck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B6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200" b="1">
                <a:solidFill>
                  <a:srgbClr val="047954"/>
                </a:solidFill>
                <a:latin typeface="Cambria"/>
              </a:rPr>
              <a:t>Project Team &amp; Roles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600"/>
              </a:spcAft>
            </a:pPr>
            <a:r>
              <a:rPr sz="1450" b="0">
                <a:solidFill>
                  <a:srgbClr val="5A6B62"/>
                </a:solidFill>
                <a:latin typeface="Calibri"/>
              </a:rPr>
              <a:t>Four members · GitHub + Colab · agile collaboration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257800" cy="1920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" y="2103120"/>
            <a:ext cx="914400" cy="914400"/>
          </a:xfrm>
          <a:prstGeom prst="ellipse">
            <a:avLst/>
          </a:prstGeom>
          <a:solidFill>
            <a:srgbClr val="0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2039112"/>
            <a:ext cx="36576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1B2A24"/>
                </a:solidFill>
                <a:latin typeface="Calibri"/>
              </a:rPr>
              <a:t>Ahmed Abd El-Ghafar Slama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047954"/>
                </a:solidFill>
                <a:latin typeface="Calibri"/>
              </a:rPr>
              <a:t>ML &amp; Model Design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Static-model design, training notebook, landmark normalization.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5257800" cy="1920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64808" y="2103120"/>
            <a:ext cx="914400" cy="914400"/>
          </a:xfrm>
          <a:prstGeom prst="ellipse">
            <a:avLst/>
          </a:prstGeom>
          <a:solidFill>
            <a:srgbClr val="33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039112"/>
            <a:ext cx="36576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1B2A24"/>
                </a:solidFill>
                <a:latin typeface="Calibri"/>
              </a:rPr>
              <a:t>Ahmed Hassan Mohamed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336EA8"/>
                </a:solidFill>
                <a:latin typeface="Calibri"/>
              </a:rPr>
              <a:t>Backend &amp; API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FastAPI service, REST/WebSocket, session engine, Docker.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5257800" cy="1920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4251959"/>
            <a:ext cx="914400" cy="914400"/>
          </a:xfrm>
          <a:prstGeom prst="ellipse">
            <a:avLst/>
          </a:prstGeom>
          <a:solidFill>
            <a:srgbClr val="D7B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YA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187952"/>
            <a:ext cx="36576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1B2A24"/>
                </a:solidFill>
                <a:latin typeface="Calibri"/>
              </a:rPr>
              <a:t>Yara Ahmed Mohamed Abdelall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D7B119"/>
                </a:solidFill>
                <a:latin typeface="Calibri"/>
              </a:rPr>
              <a:t>Frontend &amp; UX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Web client, webcam capture, landmark overlay, controls.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931920"/>
            <a:ext cx="5257800" cy="1920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4251959"/>
            <a:ext cx="914400" cy="914400"/>
          </a:xfrm>
          <a:prstGeom prst="ellipse">
            <a:avLst/>
          </a:prstGeom>
          <a:solidFill>
            <a:srgbClr val="0FA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4187952"/>
            <a:ext cx="36576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1B2A24"/>
                </a:solidFill>
                <a:latin typeface="Calibri"/>
              </a:rPr>
              <a:t>Salwa Wael Mohammed Elkordy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0FAB7D"/>
                </a:solidFill>
                <a:latin typeface="Calibri"/>
              </a:rPr>
              <a:t>Data &amp; Evaluation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B62"/>
                </a:solidFill>
                <a:latin typeface="Calibri"/>
              </a:rPr>
              <a:t>Dataset prep, metrics &amp; confusion matrix, documentation.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B6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777240"/>
            <a:ext cx="1473571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>
                <a:solidFill>
                  <a:srgbClr val="047954"/>
                </a:solidFill>
                <a:latin typeface="Cambria"/>
              </a:rPr>
              <a:t>Thank You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5A6B62"/>
                </a:solidFill>
                <a:latin typeface="Calibri"/>
              </a:rPr>
              <a:t>Questions &amp; feedback are 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12801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36EA8"/>
                </a:solidFill>
                <a:latin typeface="Calibri"/>
              </a:rPr>
              <a:t>Real-Time Sign Language Recognition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B2A24"/>
                </a:solidFill>
                <a:latin typeface="Calibri"/>
              </a:rPr>
              <a:t>Ahmed Slama · Ahmed Hassan · Yara Abdelall · Salwa Elkordy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62"/>
                </a:solidFill>
                <a:latin typeface="Calibri"/>
              </a:rPr>
              <a:t>DEPI · Microsoft Machine Learning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